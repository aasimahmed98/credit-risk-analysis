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C0152A"/>
          </a:solidFill>
          <a:ln w="12700">
            <a:solidFill>
              <a:srgbClr val="C015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943600" y="-1371600"/>
            <a:ext cx="5486400" cy="5486400"/>
          </a:xfrm>
          <a:prstGeom prst="ellipse">
            <a:avLst/>
          </a:prstGeom>
          <a:solidFill>
            <a:srgbClr val="C0152A">
              <a:alpha val="12000"/>
            </a:srgbClr>
          </a:solidFill>
          <a:ln w="12700">
            <a:solidFill>
              <a:srgbClr val="C0152A">
                <a:alpha val="2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858000" y="-457200"/>
            <a:ext cx="3657600" cy="3657600"/>
          </a:xfrm>
          <a:prstGeom prst="ellipse">
            <a:avLst/>
          </a:prstGeom>
          <a:solidFill>
            <a:srgbClr val="C0152A">
              <a:alpha val="22000"/>
            </a:srgbClr>
          </a:solidFill>
          <a:ln w="12700">
            <a:solidFill>
              <a:srgbClr val="C0152A">
                <a:alpha val="30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1005840"/>
            <a:ext cx="73152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Credit Risk</a:t>
            </a:r>
            <a:endParaRPr lang="en-US" sz="5400" dirty="0"/>
          </a:p>
        </p:txBody>
      </p:sp>
      <p:sp>
        <p:nvSpPr>
          <p:cNvPr id="6" name="Text 4"/>
          <p:cNvSpPr/>
          <p:nvPr/>
        </p:nvSpPr>
        <p:spPr>
          <a:xfrm>
            <a:off x="365760" y="1828800"/>
            <a:ext cx="73152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5400" b="1" dirty="0">
                <a:solidFill>
                  <a:srgbClr val="C015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Analysis</a:t>
            </a:r>
            <a:endParaRPr lang="en-US" sz="5400" dirty="0"/>
          </a:p>
        </p:txBody>
      </p:sp>
      <p:sp>
        <p:nvSpPr>
          <p:cNvPr id="7" name="Text 5"/>
          <p:cNvSpPr/>
          <p:nvPr/>
        </p:nvSpPr>
        <p:spPr>
          <a:xfrm>
            <a:off x="365760" y="2926080"/>
            <a:ext cx="7315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AABB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Loan Default Risk Assessment — 100,000 Loan Portfolio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365760" y="3429000"/>
            <a:ext cx="3200400" cy="36576"/>
          </a:xfrm>
          <a:prstGeom prst="rect">
            <a:avLst/>
          </a:prstGeom>
          <a:solidFill>
            <a:srgbClr val="C0152A"/>
          </a:solidFill>
          <a:ln w="12700">
            <a:solidFill>
              <a:srgbClr val="C0152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65760" y="3611880"/>
            <a:ext cx="6400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AABBCC"/>
                </a:solidFill>
              </a:rPr>
              <a:t>Prepared by: </a:t>
            </a:r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Aasim Ahmed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365760" y="391363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AABBCC"/>
                </a:solidFill>
              </a:rPr>
              <a:t>MS Computer Science  |  Data Analyst  |  Portfolio Project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0" y="4736592"/>
            <a:ext cx="9144000" cy="406908"/>
          </a:xfrm>
          <a:prstGeom prst="rect">
            <a:avLst/>
          </a:prstGeom>
          <a:solidFill>
            <a:srgbClr val="C0152A"/>
          </a:solidFill>
          <a:ln w="12700">
            <a:solidFill>
              <a:srgbClr val="C0152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65760" y="4736592"/>
            <a:ext cx="8412480" cy="4069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Built using:   SQL Server   |   Tableau Public   |   Excel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7315200" y="640080"/>
            <a:ext cx="1554480" cy="777240"/>
          </a:xfrm>
          <a:prstGeom prst="rect">
            <a:avLst/>
          </a:prstGeom>
          <a:solidFill>
            <a:srgbClr val="C0152A">
              <a:alpha val="25000"/>
            </a:srgbClr>
          </a:solidFill>
          <a:ln w="12700">
            <a:solidFill>
              <a:srgbClr val="C0152A">
                <a:alpha val="50000"/>
              </a:srgbClr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7315200" y="658368"/>
            <a:ext cx="1554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100,000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7315200" y="1051560"/>
            <a:ext cx="1554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AABBCC"/>
                </a:solidFill>
              </a:rPr>
              <a:t>Loans Analyzed</a:t>
            </a:r>
            <a:endParaRPr lang="en-US" sz="800" dirty="0"/>
          </a:p>
        </p:txBody>
      </p:sp>
      <p:sp>
        <p:nvSpPr>
          <p:cNvPr id="16" name="Shape 14"/>
          <p:cNvSpPr/>
          <p:nvPr/>
        </p:nvSpPr>
        <p:spPr>
          <a:xfrm>
            <a:off x="7315200" y="1645920"/>
            <a:ext cx="1554480" cy="777240"/>
          </a:xfrm>
          <a:prstGeom prst="rect">
            <a:avLst/>
          </a:prstGeom>
          <a:solidFill>
            <a:srgbClr val="C0152A">
              <a:alpha val="25000"/>
            </a:srgbClr>
          </a:solidFill>
          <a:ln w="12700">
            <a:solidFill>
              <a:srgbClr val="C0152A">
                <a:alpha val="50000"/>
              </a:srgbClr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7315200" y="1664208"/>
            <a:ext cx="1554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22,639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7315200" y="2057400"/>
            <a:ext cx="1554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AABBCC"/>
                </a:solidFill>
              </a:rPr>
              <a:t>Total Defaults</a:t>
            </a:r>
            <a:endParaRPr lang="en-US" sz="800" dirty="0"/>
          </a:p>
        </p:txBody>
      </p:sp>
      <p:sp>
        <p:nvSpPr>
          <p:cNvPr id="19" name="Shape 17"/>
          <p:cNvSpPr/>
          <p:nvPr/>
        </p:nvSpPr>
        <p:spPr>
          <a:xfrm>
            <a:off x="7315200" y="2651760"/>
            <a:ext cx="1554480" cy="777240"/>
          </a:xfrm>
          <a:prstGeom prst="rect">
            <a:avLst/>
          </a:prstGeom>
          <a:solidFill>
            <a:srgbClr val="C0152A">
              <a:alpha val="25000"/>
            </a:srgbClr>
          </a:solidFill>
          <a:ln w="12700">
            <a:solidFill>
              <a:srgbClr val="C0152A">
                <a:alpha val="50000"/>
              </a:srgbClr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7315200" y="2670048"/>
            <a:ext cx="1554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22.64%</a:t>
            </a:r>
            <a:endParaRPr lang="en-US" sz="2000" dirty="0"/>
          </a:p>
        </p:txBody>
      </p:sp>
      <p:sp>
        <p:nvSpPr>
          <p:cNvPr id="21" name="Text 19"/>
          <p:cNvSpPr/>
          <p:nvPr/>
        </p:nvSpPr>
        <p:spPr>
          <a:xfrm>
            <a:off x="7315200" y="3063240"/>
            <a:ext cx="1554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AABBCC"/>
                </a:solidFill>
              </a:rPr>
              <a:t>Default Rate</a:t>
            </a:r>
            <a:endParaRPr lang="en-US" sz="800" dirty="0"/>
          </a:p>
        </p:txBody>
      </p:sp>
      <p:sp>
        <p:nvSpPr>
          <p:cNvPr id="22" name="Shape 20"/>
          <p:cNvSpPr/>
          <p:nvPr/>
        </p:nvSpPr>
        <p:spPr>
          <a:xfrm>
            <a:off x="7315200" y="3657600"/>
            <a:ext cx="1554480" cy="777240"/>
          </a:xfrm>
          <a:prstGeom prst="rect">
            <a:avLst/>
          </a:prstGeom>
          <a:solidFill>
            <a:srgbClr val="C0152A">
              <a:alpha val="25000"/>
            </a:srgbClr>
          </a:solidFill>
          <a:ln w="12700">
            <a:solidFill>
              <a:srgbClr val="C0152A">
                <a:alpha val="50000"/>
              </a:srgbClr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7315200" y="3675888"/>
            <a:ext cx="1554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$1.25M</a:t>
            </a:r>
            <a:endParaRPr lang="en-US" sz="2000" dirty="0"/>
          </a:p>
        </p:txBody>
      </p:sp>
      <p:sp>
        <p:nvSpPr>
          <p:cNvPr id="24" name="Text 22"/>
          <p:cNvSpPr/>
          <p:nvPr/>
        </p:nvSpPr>
        <p:spPr>
          <a:xfrm>
            <a:off x="7315200" y="4069080"/>
            <a:ext cx="1554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AABBCC"/>
                </a:solidFill>
              </a:rPr>
              <a:t>Avg Defaulter Income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9F9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E2A4A"/>
          </a:solidFill>
          <a:ln w="12700">
            <a:solidFill>
              <a:srgbClr val="1E2A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spc="200" kern="0" dirty="0">
                <a:solidFill>
                  <a:srgbClr val="FFFFFF"/>
                </a:solidFill>
              </a:rPr>
              <a:t>EXECUTIVE SUMMARY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777240"/>
            <a:ext cx="8412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4748B"/>
                </a:solidFill>
              </a:rPr>
              <a:t>Credit Risk Analysis — 100,000 Loan Portfolio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228600" y="1280160"/>
            <a:ext cx="2743200" cy="3291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28600" y="1280160"/>
            <a:ext cx="2743200" cy="109728"/>
          </a:xfrm>
          <a:prstGeom prst="rect">
            <a:avLst/>
          </a:prstGeom>
          <a:solidFill>
            <a:srgbClr val="C0152A"/>
          </a:solidFill>
          <a:ln w="12700">
            <a:solidFill>
              <a:srgbClr val="C0152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1508760"/>
            <a:ext cx="2468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Default Rate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365760" y="2057400"/>
            <a:ext cx="246888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22.64% of the portfolio (22,639 loans) have defaulted — representing significant financial exposure requiring immediate risk management action.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154680" y="1280160"/>
            <a:ext cx="2743200" cy="3291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154680" y="1280160"/>
            <a:ext cx="2743200" cy="109728"/>
          </a:xfrm>
          <a:prstGeom prst="rect">
            <a:avLst/>
          </a:prstGeom>
          <a:solidFill>
            <a:srgbClr val="1E2A4A"/>
          </a:solidFill>
          <a:ln w="12700">
            <a:solidFill>
              <a:srgbClr val="1E2A4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291840" y="1508760"/>
            <a:ext cx="2468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Risk Drivers Identified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3291840" y="2057400"/>
            <a:ext cx="246888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Loan purpose, term length, and home ownership are the strongest predictors of default. Business loans (32%) and long-term loans (30%) carry the highest risk.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080760" y="1280160"/>
            <a:ext cx="2743200" cy="3291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6080760" y="1280160"/>
            <a:ext cx="2743200" cy="109728"/>
          </a:xfrm>
          <a:prstGeom prst="rect">
            <a:avLst/>
          </a:prstGeom>
          <a:solidFill>
            <a:srgbClr val="1A7A4A"/>
          </a:solidFill>
          <a:ln w="12700">
            <a:solidFill>
              <a:srgbClr val="1A7A4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217920" y="1508760"/>
            <a:ext cx="2468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Income Gap is Critical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6217920" y="2057400"/>
            <a:ext cx="246888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Defaulters earn $121K less annually than payers ($1.25M vs $1.37M). Income screening should be strengthened in the credit approval process.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65760" y="4773168"/>
            <a:ext cx="8412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4748B"/>
                </a:solidFill>
              </a:rPr>
              <a:t>Data Source: credit_train_clean  |  100,000 records after cleaning  |  SQL Server + Tableau Public  |  Aasim Ahmed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9F9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C0152A"/>
          </a:solidFill>
          <a:ln w="12700">
            <a:solidFill>
              <a:srgbClr val="C015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spc="200" kern="0" dirty="0">
                <a:solidFill>
                  <a:srgbClr val="FFFFFF"/>
                </a:solidFill>
              </a:rPr>
              <a:t>PORTFOLIO KPI OVERVIEW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182880" y="1005840"/>
            <a:ext cx="2011680" cy="3474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82880" y="1005840"/>
            <a:ext cx="2011680" cy="91440"/>
          </a:xfrm>
          <a:prstGeom prst="rect">
            <a:avLst/>
          </a:prstGeom>
          <a:solidFill>
            <a:srgbClr val="1E2A4A"/>
          </a:solidFill>
          <a:ln w="12700">
            <a:solidFill>
              <a:srgbClr val="1E2A4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82880" y="1463040"/>
            <a:ext cx="20116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1E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100,000</a:t>
            </a:r>
            <a:endParaRPr lang="en-US" sz="3600" dirty="0"/>
          </a:p>
        </p:txBody>
      </p:sp>
      <p:sp>
        <p:nvSpPr>
          <p:cNvPr id="7" name="Text 5"/>
          <p:cNvSpPr/>
          <p:nvPr/>
        </p:nvSpPr>
        <p:spPr>
          <a:xfrm>
            <a:off x="274320" y="251460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C2C2C"/>
                </a:solidFill>
              </a:rPr>
              <a:t>Total Loans Analyzed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274320" y="3017520"/>
            <a:ext cx="182880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Clean dataset after removing 514 null rows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2395728" y="1005840"/>
            <a:ext cx="2011680" cy="3474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2395728" y="1005840"/>
            <a:ext cx="2011680" cy="91440"/>
          </a:xfrm>
          <a:prstGeom prst="rect">
            <a:avLst/>
          </a:prstGeom>
          <a:solidFill>
            <a:srgbClr val="C0152A"/>
          </a:solidFill>
          <a:ln w="12700">
            <a:solidFill>
              <a:srgbClr val="C0152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395728" y="1463040"/>
            <a:ext cx="20116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C015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22,639</a:t>
            </a:r>
            <a:endParaRPr lang="en-US" sz="3600" dirty="0"/>
          </a:p>
        </p:txBody>
      </p:sp>
      <p:sp>
        <p:nvSpPr>
          <p:cNvPr id="12" name="Text 10"/>
          <p:cNvSpPr/>
          <p:nvPr/>
        </p:nvSpPr>
        <p:spPr>
          <a:xfrm>
            <a:off x="2487168" y="251460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C2C2C"/>
                </a:solidFill>
              </a:rPr>
              <a:t>Total Defaults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2487168" y="3017520"/>
            <a:ext cx="182880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Loans classified as Charged Off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4608576" y="1005840"/>
            <a:ext cx="2011680" cy="3474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608576" y="1005840"/>
            <a:ext cx="2011680" cy="91440"/>
          </a:xfrm>
          <a:prstGeom prst="rect">
            <a:avLst/>
          </a:prstGeom>
          <a:solidFill>
            <a:srgbClr val="8B0000"/>
          </a:solidFill>
          <a:ln w="12700">
            <a:solidFill>
              <a:srgbClr val="8B000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608576" y="1463040"/>
            <a:ext cx="20116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8B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22.64%</a:t>
            </a:r>
            <a:endParaRPr lang="en-US" sz="3600" dirty="0"/>
          </a:p>
        </p:txBody>
      </p:sp>
      <p:sp>
        <p:nvSpPr>
          <p:cNvPr id="17" name="Text 15"/>
          <p:cNvSpPr/>
          <p:nvPr/>
        </p:nvSpPr>
        <p:spPr>
          <a:xfrm>
            <a:off x="4700016" y="251460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C2C2C"/>
                </a:solidFill>
              </a:rPr>
              <a:t>Default Rate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4700016" y="3017520"/>
            <a:ext cx="182880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Nearly 1 in 4 loans defaulted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6821424" y="1005840"/>
            <a:ext cx="2011680" cy="3474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821424" y="1005840"/>
            <a:ext cx="2011680" cy="91440"/>
          </a:xfrm>
          <a:prstGeom prst="rect">
            <a:avLst/>
          </a:prstGeom>
          <a:solidFill>
            <a:srgbClr val="1A7A4A"/>
          </a:solidFill>
          <a:ln w="12700">
            <a:solidFill>
              <a:srgbClr val="1A7A4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821424" y="1463040"/>
            <a:ext cx="20116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1A7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$1.25M</a:t>
            </a:r>
            <a:endParaRPr lang="en-US" sz="3600" dirty="0"/>
          </a:p>
        </p:txBody>
      </p:sp>
      <p:sp>
        <p:nvSpPr>
          <p:cNvPr id="22" name="Text 20"/>
          <p:cNvSpPr/>
          <p:nvPr/>
        </p:nvSpPr>
        <p:spPr>
          <a:xfrm>
            <a:off x="6912864" y="251460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C2C2C"/>
                </a:solidFill>
              </a:rPr>
              <a:t>Avg Defaulter Income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6912864" y="3017520"/>
            <a:ext cx="182880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$121K less than non-defaulters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65760" y="4773168"/>
            <a:ext cx="8412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Slide 3 of 8  |  Credit Risk Analysis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9F9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E2A4A"/>
          </a:solidFill>
          <a:ln w="12700">
            <a:solidFill>
              <a:srgbClr val="1E2A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spc="100" kern="0" dirty="0">
                <a:solidFill>
                  <a:srgbClr val="FFFFFF"/>
                </a:solidFill>
              </a:rPr>
              <a:t>FINDING 1 — LOAN PURPOSE IS THE STRONGEST RISK PREDICTOR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182880" y="960120"/>
            <a:ext cx="1828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2C2C2C"/>
                </a:solidFill>
              </a:rPr>
              <a:t>Renewable Energy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2103120" y="996696"/>
            <a:ext cx="3576320" cy="274320"/>
          </a:xfrm>
          <a:prstGeom prst="rect">
            <a:avLst/>
          </a:prstGeom>
          <a:solidFill>
            <a:srgbClr val="6B0000"/>
          </a:solidFill>
          <a:ln w="12700">
            <a:solidFill>
              <a:srgbClr val="6B000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734304" y="960120"/>
            <a:ext cx="6400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6B0000"/>
                </a:solidFill>
              </a:rPr>
              <a:t>40.0%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82880" y="1380744"/>
            <a:ext cx="1828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2C2C2C"/>
                </a:solidFill>
              </a:rPr>
              <a:t>Business Loan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103120" y="1417320"/>
            <a:ext cx="2882514" cy="274320"/>
          </a:xfrm>
          <a:prstGeom prst="rect">
            <a:avLst/>
          </a:prstGeom>
          <a:solidFill>
            <a:srgbClr val="8B0000"/>
          </a:solidFill>
          <a:ln w="12700">
            <a:solidFill>
              <a:srgbClr val="8B000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040498" y="1380744"/>
            <a:ext cx="6400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8B0000"/>
                </a:solidFill>
              </a:rPr>
              <a:t>32.2%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182880" y="1801368"/>
            <a:ext cx="1828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2C2C2C"/>
                </a:solidFill>
              </a:rPr>
              <a:t>Vacation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2103120" y="1837944"/>
            <a:ext cx="2566904" cy="274320"/>
          </a:xfrm>
          <a:prstGeom prst="rect">
            <a:avLst/>
          </a:prstGeom>
          <a:solidFill>
            <a:srgbClr val="C0152A"/>
          </a:solidFill>
          <a:ln w="12700">
            <a:solidFill>
              <a:srgbClr val="C0152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724888" y="1801368"/>
            <a:ext cx="6400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C0152A"/>
                </a:solidFill>
              </a:rPr>
              <a:t>28.7%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182880" y="2221992"/>
            <a:ext cx="1828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2C2C2C"/>
                </a:solidFill>
              </a:rPr>
              <a:t>Moving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2103120" y="2258568"/>
            <a:ext cx="2563327" cy="274320"/>
          </a:xfrm>
          <a:prstGeom prst="rect">
            <a:avLst/>
          </a:prstGeom>
          <a:solidFill>
            <a:srgbClr val="D94040"/>
          </a:solidFill>
          <a:ln w="12700">
            <a:solidFill>
              <a:srgbClr val="D9404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721311" y="2221992"/>
            <a:ext cx="6400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D94040"/>
                </a:solidFill>
              </a:rPr>
              <a:t>28.7%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182880" y="2642616"/>
            <a:ext cx="1828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2C2C2C"/>
                </a:solidFill>
              </a:rPr>
              <a:t>Medical Bills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2103120" y="2679192"/>
            <a:ext cx="2205695" cy="274320"/>
          </a:xfrm>
          <a:prstGeom prst="rect">
            <a:avLst/>
          </a:prstGeom>
          <a:solidFill>
            <a:srgbClr val="E06060"/>
          </a:solidFill>
          <a:ln w="12700">
            <a:solidFill>
              <a:srgbClr val="E0606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363679" y="2642616"/>
            <a:ext cx="6400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E06060"/>
                </a:solidFill>
              </a:rPr>
              <a:t>24.7%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182880" y="3063240"/>
            <a:ext cx="1828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2C2C2C"/>
                </a:solidFill>
              </a:rPr>
              <a:t>Debt Consolidation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2103120" y="3099816"/>
            <a:ext cx="2039396" cy="274320"/>
          </a:xfrm>
          <a:prstGeom prst="rect">
            <a:avLst/>
          </a:prstGeom>
          <a:solidFill>
            <a:srgbClr val="E88080"/>
          </a:solidFill>
          <a:ln w="12700">
            <a:solidFill>
              <a:srgbClr val="E8808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197380" y="3063240"/>
            <a:ext cx="6400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E88080"/>
                </a:solidFill>
              </a:rPr>
              <a:t>22.8%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182880" y="3483864"/>
            <a:ext cx="1828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2C2C2C"/>
                </a:solidFill>
              </a:rPr>
              <a:t>Buy House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2103120" y="3520440"/>
            <a:ext cx="1846275" cy="274320"/>
          </a:xfrm>
          <a:prstGeom prst="rect">
            <a:avLst/>
          </a:prstGeom>
          <a:solidFill>
            <a:srgbClr val="F0A0A0"/>
          </a:solidFill>
          <a:ln w="12700">
            <a:solidFill>
              <a:srgbClr val="F0A0A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004259" y="3483864"/>
            <a:ext cx="6400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0A0A0"/>
                </a:solidFill>
              </a:rPr>
              <a:t>20.6%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182880" y="3904488"/>
            <a:ext cx="1828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2C2C2C"/>
                </a:solidFill>
              </a:rPr>
              <a:t>Home Improvements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2103120" y="3941064"/>
            <a:ext cx="1781007" cy="274320"/>
          </a:xfrm>
          <a:prstGeom prst="rect">
            <a:avLst/>
          </a:prstGeom>
          <a:solidFill>
            <a:srgbClr val="F8C8C8"/>
          </a:solidFill>
          <a:ln w="12700">
            <a:solidFill>
              <a:srgbClr val="F8C8C8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938991" y="3904488"/>
            <a:ext cx="6400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8C8C8"/>
                </a:solidFill>
              </a:rPr>
              <a:t>19.9%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182880" y="4325112"/>
            <a:ext cx="1828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2C2C2C"/>
                </a:solidFill>
              </a:rPr>
              <a:t>Buy a Car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2103120" y="4361688"/>
            <a:ext cx="1434998" cy="274320"/>
          </a:xfrm>
          <a:prstGeom prst="rect">
            <a:avLst/>
          </a:prstGeom>
          <a:solidFill>
            <a:srgbClr val="FDE8E8"/>
          </a:solidFill>
          <a:ln w="12700">
            <a:solidFill>
              <a:srgbClr val="FDE8E8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592982" y="4325112"/>
            <a:ext cx="6400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DE8E8"/>
                </a:solidFill>
              </a:rPr>
              <a:t>16.1%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6492240" y="960120"/>
            <a:ext cx="2423160" cy="3474720"/>
          </a:xfrm>
          <a:prstGeom prst="rect">
            <a:avLst/>
          </a:prstGeom>
          <a:solidFill>
            <a:srgbClr val="F4CCCC"/>
          </a:solidFill>
          <a:ln w="12700">
            <a:solidFill>
              <a:srgbClr val="C0152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6583680" y="1051560"/>
            <a:ext cx="2240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0152A"/>
                </a:solidFill>
              </a:rPr>
              <a:t>Key Insight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6583680" y="1463040"/>
            <a:ext cx="224028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2C2C2C"/>
                </a:solidFill>
              </a:rPr>
              <a:t>Business-related loans carry the highest default risk at 32–40%.
</a:t>
            </a:r>
            <a:pPr indent="0" marL="0">
              <a:buNone/>
            </a:pPr>
            <a:r>
              <a:rPr lang="en-US" sz="1000" b="1" dirty="0">
                <a:solidFill>
                  <a:srgbClr val="2C2C2C"/>
                </a:solidFill>
              </a:rPr>
              <a:t>Recommendation:
</a:t>
            </a:r>
            <a:pPr indent="0" marL="0">
              <a:buNone/>
            </a:pPr>
            <a:r>
              <a:rPr lang="en-US" sz="1000" dirty="0">
                <a:solidFill>
                  <a:srgbClr val="2C2C2C"/>
                </a:solidFill>
              </a:rPr>
              <a:t>Require stronger collateral or co-signers for business loan approvals. Consider capping exposure to this segment.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365760" y="4773168"/>
            <a:ext cx="8412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Slide 4 of 8  |  Credit Risk Analysis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9F9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C0152A"/>
          </a:solidFill>
          <a:ln w="12700">
            <a:solidFill>
              <a:srgbClr val="C015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spc="100" kern="0" dirty="0">
                <a:solidFill>
                  <a:srgbClr val="FFFFFF"/>
                </a:solidFill>
              </a:rPr>
              <a:t>FINDING 2 — LONG-TERM LOANS DEFAULT 52% MORE OFTEN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457200" y="1005840"/>
            <a:ext cx="3931920" cy="3200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1005840"/>
            <a:ext cx="3931920" cy="109728"/>
          </a:xfrm>
          <a:prstGeom prst="rect">
            <a:avLst/>
          </a:prstGeom>
          <a:solidFill>
            <a:srgbClr val="8B0000"/>
          </a:solidFill>
          <a:ln w="12700">
            <a:solidFill>
              <a:srgbClr val="8B000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188720"/>
            <a:ext cx="3931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C2C2C"/>
                </a:solidFill>
              </a:rPr>
              <a:t>Long Term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457200" y="1691640"/>
            <a:ext cx="393192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400" b="1" dirty="0">
                <a:solidFill>
                  <a:srgbClr val="8B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30.1%</a:t>
            </a:r>
            <a:endParaRPr lang="en-US" sz="6400" dirty="0"/>
          </a:p>
        </p:txBody>
      </p:sp>
      <p:sp>
        <p:nvSpPr>
          <p:cNvPr id="8" name="Text 6"/>
          <p:cNvSpPr/>
          <p:nvPr/>
        </p:nvSpPr>
        <p:spPr>
          <a:xfrm>
            <a:off x="457200" y="2834640"/>
            <a:ext cx="3931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4748B"/>
                </a:solidFill>
              </a:rPr>
              <a:t>Default Rate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3154680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64748B"/>
                </a:solidFill>
              </a:rPr>
              <a:t>27,792 loans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640080" y="3474720"/>
            <a:ext cx="356616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Higher risk — longer repayment window increases life event exposure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4846320" y="1005840"/>
            <a:ext cx="3931920" cy="3200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846320" y="1005840"/>
            <a:ext cx="3931920" cy="109728"/>
          </a:xfrm>
          <a:prstGeom prst="rect">
            <a:avLst/>
          </a:prstGeom>
          <a:solidFill>
            <a:srgbClr val="1A7A4A"/>
          </a:solidFill>
          <a:ln w="12700">
            <a:solidFill>
              <a:srgbClr val="1A7A4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846320" y="1188720"/>
            <a:ext cx="3931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C2C2C"/>
                </a:solidFill>
              </a:rPr>
              <a:t>Short Term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4846320" y="1691640"/>
            <a:ext cx="393192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400" b="1" dirty="0">
                <a:solidFill>
                  <a:srgbClr val="1A7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19.8%</a:t>
            </a:r>
            <a:endParaRPr lang="en-US" sz="6400" dirty="0"/>
          </a:p>
        </p:txBody>
      </p:sp>
      <p:sp>
        <p:nvSpPr>
          <p:cNvPr id="15" name="Text 13"/>
          <p:cNvSpPr/>
          <p:nvPr/>
        </p:nvSpPr>
        <p:spPr>
          <a:xfrm>
            <a:off x="4846320" y="2834640"/>
            <a:ext cx="3931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4748B"/>
                </a:solidFill>
              </a:rPr>
              <a:t>Default Rate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846320" y="3154680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64748B"/>
                </a:solidFill>
              </a:rPr>
              <a:t>72,208 loans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5029200" y="3474720"/>
            <a:ext cx="356616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Lower risk — borrowers commit to shorter, more manageable repayment periods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3886200" y="2103120"/>
            <a:ext cx="1371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C0152A"/>
                </a:solidFill>
              </a:rPr>
              <a:t>52%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C0152A"/>
                </a:solidFill>
              </a:rPr>
              <a:t>Higher Risk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65760" y="4773168"/>
            <a:ext cx="8412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Slide 5 of 8  |  Credit Risk Analysis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9F9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E2A4A"/>
          </a:solidFill>
          <a:ln w="12700">
            <a:solidFill>
              <a:srgbClr val="1E2A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spc="100" kern="0" dirty="0">
                <a:solidFill>
                  <a:srgbClr val="FFFFFF"/>
                </a:solidFill>
              </a:rPr>
              <a:t>FINDING 3 — HOME OWNERSHIP &amp; INCOME SIGNAL FINANCIAL STABILITY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274320" y="914400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C2C2C"/>
                </a:solidFill>
              </a:rPr>
              <a:t>Default Rate by Home Ownership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274320" y="1417320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C2C2C"/>
                </a:solidFill>
              </a:rPr>
              <a:t>Rent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1691640" y="1463040"/>
            <a:ext cx="2142988" cy="274320"/>
          </a:xfrm>
          <a:prstGeom prst="rect">
            <a:avLst/>
          </a:prstGeom>
          <a:solidFill>
            <a:srgbClr val="8B0000"/>
          </a:solidFill>
          <a:ln w="12700">
            <a:solidFill>
              <a:srgbClr val="8B000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907780" y="1417320"/>
            <a:ext cx="685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8B0000"/>
                </a:solidFill>
              </a:rPr>
              <a:t>25.11%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274320" y="2240280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C2C2C"/>
                </a:solidFill>
              </a:rPr>
              <a:t>Own Home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1691640" y="2286000"/>
            <a:ext cx="1953524" cy="274320"/>
          </a:xfrm>
          <a:prstGeom prst="rect">
            <a:avLst/>
          </a:prstGeom>
          <a:solidFill>
            <a:srgbClr val="C0152A"/>
          </a:solidFill>
          <a:ln w="12700">
            <a:solidFill>
              <a:srgbClr val="C0152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718316" y="2240280"/>
            <a:ext cx="685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C0152A"/>
                </a:solidFill>
              </a:rPr>
              <a:t>22.89%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274320" y="3063240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C2C2C"/>
                </a:solidFill>
              </a:rPr>
              <a:t>Home Mortgage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1691640" y="3108960"/>
            <a:ext cx="1744431" cy="274320"/>
          </a:xfrm>
          <a:prstGeom prst="rect">
            <a:avLst/>
          </a:prstGeom>
          <a:solidFill>
            <a:srgbClr val="E88080"/>
          </a:solidFill>
          <a:ln w="12700">
            <a:solidFill>
              <a:srgbClr val="E8808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509223" y="3063240"/>
            <a:ext cx="685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88080"/>
                </a:solidFill>
              </a:rPr>
              <a:t>20.44%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480560" y="914400"/>
            <a:ext cx="27432" cy="34747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663440" y="914400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C2C2C"/>
                </a:solidFill>
              </a:rPr>
              <a:t>Avg Annual Income by Loan Status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4663440" y="1463040"/>
            <a:ext cx="420624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663440" y="1463040"/>
            <a:ext cx="109728" cy="1005840"/>
          </a:xfrm>
          <a:prstGeom prst="rect">
            <a:avLst/>
          </a:prstGeom>
          <a:solidFill>
            <a:srgbClr val="1A7A4A"/>
          </a:solidFill>
          <a:ln w="12700">
            <a:solidFill>
              <a:srgbClr val="1A7A4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892040" y="1554480"/>
            <a:ext cx="2286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7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$1.37M</a:t>
            </a:r>
            <a:endParaRPr lang="en-US" sz="2800" dirty="0"/>
          </a:p>
        </p:txBody>
      </p:sp>
      <p:sp>
        <p:nvSpPr>
          <p:cNvPr id="19" name="Text 17"/>
          <p:cNvSpPr/>
          <p:nvPr/>
        </p:nvSpPr>
        <p:spPr>
          <a:xfrm>
            <a:off x="4892040" y="205740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Fully Paid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663440" y="2834640"/>
            <a:ext cx="420624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663440" y="2834640"/>
            <a:ext cx="109728" cy="1005840"/>
          </a:xfrm>
          <a:prstGeom prst="rect">
            <a:avLst/>
          </a:prstGeom>
          <a:solidFill>
            <a:srgbClr val="C0152A"/>
          </a:solidFill>
          <a:ln w="12700">
            <a:solidFill>
              <a:srgbClr val="C0152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892040" y="2926080"/>
            <a:ext cx="2286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C015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$1.25M</a:t>
            </a:r>
            <a:endParaRPr lang="en-US" sz="2800" dirty="0"/>
          </a:p>
        </p:txBody>
      </p:sp>
      <p:sp>
        <p:nvSpPr>
          <p:cNvPr id="23" name="Text 21"/>
          <p:cNvSpPr/>
          <p:nvPr/>
        </p:nvSpPr>
        <p:spPr>
          <a:xfrm>
            <a:off x="4892040" y="342900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Charged Off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4663440" y="3931920"/>
            <a:ext cx="4206240" cy="640080"/>
          </a:xfrm>
          <a:prstGeom prst="rect">
            <a:avLst/>
          </a:prstGeom>
          <a:solidFill>
            <a:srgbClr val="F4CCCC"/>
          </a:solidFill>
          <a:ln w="12700">
            <a:solidFill>
              <a:srgbClr val="C0152A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754880" y="3931920"/>
            <a:ext cx="4023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8B0000"/>
                </a:solidFill>
              </a:rPr>
              <a:t>Income gap: $121,306 — Defaulters earn 9% less on average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65760" y="4773168"/>
            <a:ext cx="8412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Slide 6 of 8  |  Credit Risk Analysis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9F9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C0152A"/>
          </a:solidFill>
          <a:ln w="12700">
            <a:solidFill>
              <a:srgbClr val="C015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spc="300" kern="0" dirty="0">
                <a:solidFill>
                  <a:srgbClr val="FFFFFF"/>
                </a:solidFill>
              </a:rPr>
              <a:t>RECOMMENDATIONS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182880" y="960120"/>
            <a:ext cx="4206240" cy="1737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82880" y="960120"/>
            <a:ext cx="109728" cy="1737360"/>
          </a:xfrm>
          <a:prstGeom prst="rect">
            <a:avLst/>
          </a:prstGeom>
          <a:solidFill>
            <a:srgbClr val="8B0000"/>
          </a:solidFill>
          <a:ln w="12700">
            <a:solidFill>
              <a:srgbClr val="8B000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84048" y="105156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8B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3383280" y="1097280"/>
            <a:ext cx="868680" cy="274320"/>
          </a:xfrm>
          <a:prstGeom prst="rect">
            <a:avLst/>
          </a:prstGeom>
          <a:solidFill>
            <a:srgbClr val="C0152A"/>
          </a:solidFill>
          <a:ln w="12700">
            <a:solidFill>
              <a:srgbClr val="C0152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383280" y="1097280"/>
            <a:ext cx="868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HIGH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384048" y="1463040"/>
            <a:ext cx="3886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C2C2C"/>
                </a:solidFill>
              </a:rPr>
              <a:t>Tighten Business Loan Criteria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384048" y="1828800"/>
            <a:ext cx="388620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Business &amp; small business loans default at 32–40%. Require collateral, business financials, and co-signers. Consider capping this segment at 10% of total portfolio.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4663440" y="960120"/>
            <a:ext cx="4206240" cy="1737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663440" y="960120"/>
            <a:ext cx="109728" cy="1737360"/>
          </a:xfrm>
          <a:prstGeom prst="rect">
            <a:avLst/>
          </a:prstGeom>
          <a:solidFill>
            <a:srgbClr val="C0152A"/>
          </a:solidFill>
          <a:ln w="12700">
            <a:solidFill>
              <a:srgbClr val="C0152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864608" y="105156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C015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2200" dirty="0"/>
          </a:p>
        </p:txBody>
      </p:sp>
      <p:sp>
        <p:nvSpPr>
          <p:cNvPr id="14" name="Shape 12"/>
          <p:cNvSpPr/>
          <p:nvPr/>
        </p:nvSpPr>
        <p:spPr>
          <a:xfrm>
            <a:off x="7863840" y="1097280"/>
            <a:ext cx="868680" cy="274320"/>
          </a:xfrm>
          <a:prstGeom prst="rect">
            <a:avLst/>
          </a:prstGeom>
          <a:solidFill>
            <a:srgbClr val="C0152A"/>
          </a:solidFill>
          <a:ln w="12700">
            <a:solidFill>
              <a:srgbClr val="C0152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863840" y="1097280"/>
            <a:ext cx="868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HIGH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4864608" y="1463040"/>
            <a:ext cx="3886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C2C2C"/>
                </a:solidFill>
              </a:rPr>
              <a:t>Apply Stricter Long-Term Loan Screening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4864608" y="1828800"/>
            <a:ext cx="388620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Long-term loans default 52% more than short-term. Implement higher income thresholds and credit score minimums specifically for long-term applicants.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182880" y="2880360"/>
            <a:ext cx="4206240" cy="1737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182880" y="2880360"/>
            <a:ext cx="109728" cy="1737360"/>
          </a:xfrm>
          <a:prstGeom prst="rect">
            <a:avLst/>
          </a:prstGeom>
          <a:solidFill>
            <a:srgbClr val="1E2A4A"/>
          </a:solidFill>
          <a:ln w="12700">
            <a:solidFill>
              <a:srgbClr val="1E2A4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84048" y="297180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E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2200" dirty="0"/>
          </a:p>
        </p:txBody>
      </p:sp>
      <p:sp>
        <p:nvSpPr>
          <p:cNvPr id="21" name="Shape 19"/>
          <p:cNvSpPr/>
          <p:nvPr/>
        </p:nvSpPr>
        <p:spPr>
          <a:xfrm>
            <a:off x="3383280" y="3017520"/>
            <a:ext cx="868680" cy="274320"/>
          </a:xfrm>
          <a:prstGeom prst="rect">
            <a:avLst/>
          </a:prstGeom>
          <a:solidFill>
            <a:srgbClr val="1E2A4A"/>
          </a:solidFill>
          <a:ln w="12700">
            <a:solidFill>
              <a:srgbClr val="1E2A4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383280" y="3017520"/>
            <a:ext cx="868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MEDIUM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384048" y="3383280"/>
            <a:ext cx="3886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C2C2C"/>
                </a:solidFill>
              </a:rPr>
              <a:t>Weight Income More Heavily in Scoring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384048" y="3749040"/>
            <a:ext cx="388620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Defaulters earn $121K less annually. Strengthen income verification and introduce a debt-to-income ratio cap to flag high-risk applicants earlier.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4663440" y="2880360"/>
            <a:ext cx="4206240" cy="1737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4663440" y="2880360"/>
            <a:ext cx="109728" cy="1737360"/>
          </a:xfrm>
          <a:prstGeom prst="rect">
            <a:avLst/>
          </a:prstGeom>
          <a:solidFill>
            <a:srgbClr val="1A7A4A"/>
          </a:solidFill>
          <a:ln w="12700">
            <a:solidFill>
              <a:srgbClr val="1A7A4A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864608" y="297180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7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2200" dirty="0"/>
          </a:p>
        </p:txBody>
      </p:sp>
      <p:sp>
        <p:nvSpPr>
          <p:cNvPr id="28" name="Shape 26"/>
          <p:cNvSpPr/>
          <p:nvPr/>
        </p:nvSpPr>
        <p:spPr>
          <a:xfrm>
            <a:off x="7863840" y="3017520"/>
            <a:ext cx="868680" cy="274320"/>
          </a:xfrm>
          <a:prstGeom prst="rect">
            <a:avLst/>
          </a:prstGeom>
          <a:solidFill>
            <a:srgbClr val="1E2A4A"/>
          </a:solidFill>
          <a:ln w="12700">
            <a:solidFill>
              <a:srgbClr val="1E2A4A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7863840" y="3017520"/>
            <a:ext cx="868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MEDIUM</a:t>
            </a:r>
            <a:endParaRPr lang="en-US" sz="800" dirty="0"/>
          </a:p>
        </p:txBody>
      </p:sp>
      <p:sp>
        <p:nvSpPr>
          <p:cNvPr id="30" name="Text 28"/>
          <p:cNvSpPr/>
          <p:nvPr/>
        </p:nvSpPr>
        <p:spPr>
          <a:xfrm>
            <a:off x="4864608" y="3383280"/>
            <a:ext cx="3886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C2C2C"/>
                </a:solidFill>
              </a:rPr>
              <a:t>Flag Renters as Higher-Risk Borrowers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4864608" y="3749040"/>
            <a:ext cx="388620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Renters default at 25.1% vs 20.4% for mortgage holders. Apply risk premium pricing or require additional documentation for rental applicants.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65760" y="4773168"/>
            <a:ext cx="8412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Slide 7 of 8  |  Credit Risk Analysis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E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914400" y="2743200"/>
            <a:ext cx="4572000" cy="4572000"/>
          </a:xfrm>
          <a:prstGeom prst="ellipse">
            <a:avLst/>
          </a:prstGeom>
          <a:solidFill>
            <a:srgbClr val="C0152A">
              <a:alpha val="12000"/>
            </a:srgbClr>
          </a:solidFill>
          <a:ln w="12700">
            <a:solidFill>
              <a:srgbClr val="C0152A">
                <a:alpha val="20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400800" y="-914400"/>
            <a:ext cx="3657600" cy="3657600"/>
          </a:xfrm>
          <a:prstGeom prst="ellipse">
            <a:avLst/>
          </a:prstGeom>
          <a:solidFill>
            <a:srgbClr val="C0152A">
              <a:alpha val="18000"/>
            </a:srgbClr>
          </a:solidFill>
          <a:ln w="12700">
            <a:solidFill>
              <a:srgbClr val="C0152A">
                <a:alpha val="25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spc="200" kern="0" dirty="0">
                <a:solidFill>
                  <a:srgbClr val="FFFFFF"/>
                </a:solidFill>
              </a:rPr>
              <a:t>METHODOLOGY &amp; DATA NOTES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457200" y="960120"/>
            <a:ext cx="3200400" cy="36576"/>
          </a:xfrm>
          <a:prstGeom prst="rect">
            <a:avLst/>
          </a:prstGeom>
          <a:solidFill>
            <a:srgbClr val="C0152A"/>
          </a:solidFill>
          <a:ln w="12700">
            <a:solidFill>
              <a:srgbClr val="C0152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188720"/>
            <a:ext cx="411480" cy="411480"/>
          </a:xfrm>
          <a:prstGeom prst="ellipse">
            <a:avLst/>
          </a:prstGeom>
          <a:solidFill>
            <a:srgbClr val="C0152A"/>
          </a:solidFill>
          <a:ln w="12700">
            <a:solidFill>
              <a:srgbClr val="C0152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118872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01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1005840" y="1143000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Data Source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1005840" y="1463040"/>
            <a:ext cx="7589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ABBCC"/>
                </a:solidFill>
              </a:rPr>
              <a:t>credit_train.csv — 100,514 raw records, 19 columns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457200" y="1892808"/>
            <a:ext cx="411480" cy="411480"/>
          </a:xfrm>
          <a:prstGeom prst="ellipse">
            <a:avLst/>
          </a:prstGeom>
          <a:solidFill>
            <a:srgbClr val="C0152A"/>
          </a:solidFill>
          <a:ln w="12700">
            <a:solidFill>
              <a:srgbClr val="C0152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7200" y="1892808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02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1005840" y="1847088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EDA (SQL Server)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1005840" y="2167128"/>
            <a:ext cx="7589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ABBCC"/>
                </a:solidFill>
              </a:rPr>
              <a:t>12 exploratory queries to profile data, identify nulls, outliers, and distributions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457200" y="2596896"/>
            <a:ext cx="411480" cy="411480"/>
          </a:xfrm>
          <a:prstGeom prst="ellipse">
            <a:avLst/>
          </a:prstGeom>
          <a:solidFill>
            <a:srgbClr val="C0152A"/>
          </a:solidFill>
          <a:ln w="12700">
            <a:solidFill>
              <a:srgbClr val="C0152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57200" y="2596896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03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1005840" y="2551176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Data Cleaning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1005840" y="2871216"/>
            <a:ext cx="7589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ABBCC"/>
                </a:solidFill>
              </a:rPr>
              <a:t>Removed 514 null rows, nulled 11,484 corrupt loan amounts, standardized 7 categorical fields, imputed 19,668 missing values with median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457200" y="3300984"/>
            <a:ext cx="411480" cy="411480"/>
          </a:xfrm>
          <a:prstGeom prst="ellipse">
            <a:avLst/>
          </a:prstGeom>
          <a:solidFill>
            <a:srgbClr val="C0152A"/>
          </a:solidFill>
          <a:ln w="12700">
            <a:solidFill>
              <a:srgbClr val="C0152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57200" y="3300984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04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1005840" y="3255264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Visualization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1005840" y="3575304"/>
            <a:ext cx="7589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ABBCC"/>
                </a:solidFill>
              </a:rPr>
              <a:t>Tableau Public dashboard with 5 charts + 4 KPI metrics across 9 sheets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457200" y="4005072"/>
            <a:ext cx="411480" cy="411480"/>
          </a:xfrm>
          <a:prstGeom prst="ellipse">
            <a:avLst/>
          </a:prstGeom>
          <a:solidFill>
            <a:srgbClr val="C0152A"/>
          </a:solidFill>
          <a:ln w="12700">
            <a:solidFill>
              <a:srgbClr val="C0152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57200" y="4005072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05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1005840" y="3959352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Final Dataset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1005840" y="4279392"/>
            <a:ext cx="7589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ABBCC"/>
                </a:solidFill>
              </a:rPr>
              <a:t>100,000 clean records — ready for machine learning model development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457200" y="4617720"/>
            <a:ext cx="8229600" cy="365760"/>
          </a:xfrm>
          <a:prstGeom prst="rect">
            <a:avLst/>
          </a:prstGeom>
          <a:solidFill>
            <a:srgbClr val="C0152A">
              <a:alpha val="20000"/>
            </a:srgbClr>
          </a:solidFill>
          <a:ln w="12700">
            <a:solidFill>
              <a:srgbClr val="C0152A">
                <a:alpha val="40000"/>
              </a:srgbClr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57200" y="46177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Next Step: Deploy predictive default model using cleaned dataset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9F9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E2A4A"/>
          </a:solidFill>
          <a:ln w="12700">
            <a:solidFill>
              <a:srgbClr val="1E2A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64008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spc="200" kern="0" dirty="0">
                <a:solidFill>
                  <a:srgbClr val="FFFFFF"/>
                </a:solidFill>
              </a:rPr>
              <a:t>BUSINESS IMPACT SIMULATION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0"/>
            <a:ext cx="84124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i="1" dirty="0">
                <a:solidFill>
                  <a:srgbClr val="AABBCC"/>
                </a:solidFill>
              </a:rPr>
              <a:t>What if we acted on these findings?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228600" y="914400"/>
            <a:ext cx="8686800" cy="5029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20040" y="914400"/>
            <a:ext cx="8503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64748B"/>
                </a:solidFill>
              </a:rPr>
              <a:t>Baseline: 100,000 loans  |  22,639 defaults (22.64%)  |  Avg loss per default estimated at $5,000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82880" y="1554480"/>
            <a:ext cx="2788920" cy="32461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182880" y="1554480"/>
            <a:ext cx="2788920" cy="109728"/>
          </a:xfrm>
          <a:prstGeom prst="rect">
            <a:avLst/>
          </a:prstGeom>
          <a:solidFill>
            <a:srgbClr val="8B0000"/>
          </a:solidFill>
          <a:ln w="12700">
            <a:solidFill>
              <a:srgbClr val="8B000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92608" y="1664208"/>
            <a:ext cx="257860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8B0000"/>
                </a:solidFill>
              </a:rPr>
              <a:t>Scenario 1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292608" y="2011680"/>
            <a:ext cx="257860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C2C2C"/>
                </a:solidFill>
              </a:rPr>
              <a:t>Reduce long-term loan exposure by 15%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292608" y="2514600"/>
            <a:ext cx="2578608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4748B"/>
                </a:solidFill>
              </a:rPr>
              <a:t>Apply stricter income &amp; credit score thresholds for long-term applicants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292608" y="3154680"/>
            <a:ext cx="1188720" cy="594360"/>
          </a:xfrm>
          <a:prstGeom prst="rect">
            <a:avLst/>
          </a:prstGeom>
          <a:solidFill>
            <a:srgbClr val="F4CCCC"/>
          </a:solidFill>
          <a:ln w="12700">
            <a:solidFill>
              <a:srgbClr val="FFAAAA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645920" y="3154680"/>
            <a:ext cx="1188720" cy="594360"/>
          </a:xfrm>
          <a:prstGeom prst="rect">
            <a:avLst/>
          </a:prstGeom>
          <a:solidFill>
            <a:srgbClr val="D6F0E0"/>
          </a:solidFill>
          <a:ln w="12700">
            <a:solidFill>
              <a:srgbClr val="AADDB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92608" y="3154680"/>
            <a:ext cx="11887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8B0000"/>
                </a:solidFill>
              </a:rPr>
              <a:t>Before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8B0000"/>
                </a:solidFill>
              </a:rPr>
              <a:t>30.1%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1645920" y="3154680"/>
            <a:ext cx="11887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A7A4A"/>
                </a:solidFill>
              </a:rPr>
              <a:t>After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1A7A4A"/>
                </a:solidFill>
              </a:rPr>
              <a:t>~25.6%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292608" y="3822192"/>
            <a:ext cx="2578608" cy="685800"/>
          </a:xfrm>
          <a:prstGeom prst="rect">
            <a:avLst/>
          </a:prstGeom>
          <a:solidFill>
            <a:srgbClr val="8B0000"/>
          </a:solidFill>
          <a:ln w="12700">
            <a:solidFill>
              <a:srgbClr val="8B000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92608" y="3822192"/>
            <a:ext cx="2578608" cy="347472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−1,246 defaults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292608" y="4160520"/>
            <a:ext cx="2578608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D700"/>
                </a:solidFill>
              </a:rPr>
              <a:t>$6.2M saved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3154680" y="1554480"/>
            <a:ext cx="2788920" cy="32461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3154680" y="1554480"/>
            <a:ext cx="2788920" cy="109728"/>
          </a:xfrm>
          <a:prstGeom prst="rect">
            <a:avLst/>
          </a:prstGeom>
          <a:solidFill>
            <a:srgbClr val="1E2A4A"/>
          </a:solidFill>
          <a:ln w="12700">
            <a:solidFill>
              <a:srgbClr val="1E2A4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264408" y="1664208"/>
            <a:ext cx="257860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A4A"/>
                </a:solidFill>
              </a:rPr>
              <a:t>Scenario 2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3264408" y="2011680"/>
            <a:ext cx="257860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C2C2C"/>
                </a:solidFill>
              </a:rPr>
              <a:t>Reject top 20% riskiest business loan applications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3264408" y="2514600"/>
            <a:ext cx="2578608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4748B"/>
                </a:solidFill>
              </a:rPr>
              <a:t>Flag applications where purpose = Business Loan AND income &lt; $1M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3264408" y="3154680"/>
            <a:ext cx="1188720" cy="594360"/>
          </a:xfrm>
          <a:prstGeom prst="rect">
            <a:avLst/>
          </a:prstGeom>
          <a:solidFill>
            <a:srgbClr val="F4CCCC"/>
          </a:solidFill>
          <a:ln w="12700">
            <a:solidFill>
              <a:srgbClr val="FFAAAA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617720" y="3154680"/>
            <a:ext cx="1188720" cy="594360"/>
          </a:xfrm>
          <a:prstGeom prst="rect">
            <a:avLst/>
          </a:prstGeom>
          <a:solidFill>
            <a:srgbClr val="D6F0E0"/>
          </a:solidFill>
          <a:ln w="12700">
            <a:solidFill>
              <a:srgbClr val="AADDBB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264408" y="3154680"/>
            <a:ext cx="11887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8B0000"/>
                </a:solidFill>
              </a:rPr>
              <a:t>Before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8B0000"/>
                </a:solidFill>
              </a:rPr>
              <a:t>32.24%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4617720" y="3154680"/>
            <a:ext cx="11887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A7A4A"/>
                </a:solidFill>
              </a:rPr>
              <a:t>After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1A7A4A"/>
                </a:solidFill>
              </a:rPr>
              <a:t>~24.1%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3264408" y="3822192"/>
            <a:ext cx="2578608" cy="685800"/>
          </a:xfrm>
          <a:prstGeom prst="rect">
            <a:avLst/>
          </a:prstGeom>
          <a:solidFill>
            <a:srgbClr val="1E2A4A"/>
          </a:solidFill>
          <a:ln w="12700">
            <a:solidFill>
              <a:srgbClr val="1E2A4A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264408" y="3822192"/>
            <a:ext cx="2578608" cy="347472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−892 defaults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3264408" y="4160520"/>
            <a:ext cx="2578608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D700"/>
                </a:solidFill>
              </a:rPr>
              <a:t>$4.5M saved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6126480" y="1554480"/>
            <a:ext cx="2788920" cy="32461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6126480" y="1554480"/>
            <a:ext cx="2788920" cy="109728"/>
          </a:xfrm>
          <a:prstGeom prst="rect">
            <a:avLst/>
          </a:prstGeom>
          <a:solidFill>
            <a:srgbClr val="1A7A4A"/>
          </a:solidFill>
          <a:ln w="12700">
            <a:solidFill>
              <a:srgbClr val="1A7A4A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236208" y="1664208"/>
            <a:ext cx="257860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7A4A"/>
                </a:solidFill>
              </a:rPr>
              <a:t>Scenario 3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6236208" y="2011680"/>
            <a:ext cx="257860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C2C2C"/>
                </a:solidFill>
              </a:rPr>
              <a:t>Combined: Both policies applied together</a:t>
            </a:r>
            <a:endParaRPr lang="en-US" sz="1050" dirty="0"/>
          </a:p>
        </p:txBody>
      </p:sp>
      <p:sp>
        <p:nvSpPr>
          <p:cNvPr id="35" name="Text 33"/>
          <p:cNvSpPr/>
          <p:nvPr/>
        </p:nvSpPr>
        <p:spPr>
          <a:xfrm>
            <a:off x="6236208" y="2514600"/>
            <a:ext cx="2578608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4748B"/>
                </a:solidFill>
              </a:rPr>
              <a:t>Implement long-term loan screening AND business loan risk cap simultaneously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6236208" y="3154680"/>
            <a:ext cx="1188720" cy="594360"/>
          </a:xfrm>
          <a:prstGeom prst="rect">
            <a:avLst/>
          </a:prstGeom>
          <a:solidFill>
            <a:srgbClr val="F4CCCC"/>
          </a:solidFill>
          <a:ln w="12700">
            <a:solidFill>
              <a:srgbClr val="FFAAAA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7589520" y="3154680"/>
            <a:ext cx="1188720" cy="594360"/>
          </a:xfrm>
          <a:prstGeom prst="rect">
            <a:avLst/>
          </a:prstGeom>
          <a:solidFill>
            <a:srgbClr val="D6F0E0"/>
          </a:solidFill>
          <a:ln w="12700">
            <a:solidFill>
              <a:srgbClr val="AADDBB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6236208" y="3154680"/>
            <a:ext cx="11887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8B0000"/>
                </a:solidFill>
              </a:rPr>
              <a:t>Before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8B0000"/>
                </a:solidFill>
              </a:rPr>
              <a:t>22.64%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7589520" y="3154680"/>
            <a:ext cx="11887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A7A4A"/>
                </a:solidFill>
              </a:rPr>
              <a:t>After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1A7A4A"/>
                </a:solidFill>
              </a:rPr>
              <a:t>~19.5%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6236208" y="3822192"/>
            <a:ext cx="2578608" cy="685800"/>
          </a:xfrm>
          <a:prstGeom prst="rect">
            <a:avLst/>
          </a:prstGeom>
          <a:solidFill>
            <a:srgbClr val="1A7A4A"/>
          </a:solidFill>
          <a:ln w="12700">
            <a:solidFill>
              <a:srgbClr val="1A7A4A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6236208" y="3822192"/>
            <a:ext cx="2578608" cy="347472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−3,140 defaults</a:t>
            </a:r>
            <a:endParaRPr lang="en-US" sz="1200" dirty="0"/>
          </a:p>
        </p:txBody>
      </p:sp>
      <p:sp>
        <p:nvSpPr>
          <p:cNvPr id="42" name="Text 40"/>
          <p:cNvSpPr/>
          <p:nvPr/>
        </p:nvSpPr>
        <p:spPr>
          <a:xfrm>
            <a:off x="6236208" y="4160520"/>
            <a:ext cx="2578608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D700"/>
                </a:solidFill>
              </a:rPr>
              <a:t>$15.7M saved</a:t>
            </a:r>
            <a:endParaRPr lang="en-US" sz="1100" dirty="0"/>
          </a:p>
        </p:txBody>
      </p:sp>
      <p:sp>
        <p:nvSpPr>
          <p:cNvPr id="43" name="Shape 41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365760" y="4773168"/>
            <a:ext cx="8412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64748B"/>
                </a:solidFill>
              </a:rPr>
              <a:t>* Projections based on historical default rates. Actual results depend on implementation quality and market conditions.  |  Slide 9 of 9  |  Aasim Ahmed</a:t>
            </a:r>
            <a:endParaRPr lang="en-US" sz="8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Credit Risk Analysis</dc:title>
  <dc:subject>PptxGenJS Presentation</dc:subject>
  <dc:creator>PptxGenJS</dc:creator>
  <cp:lastModifiedBy>PptxGenJS</cp:lastModifiedBy>
  <cp:revision>1</cp:revision>
  <dcterms:created xsi:type="dcterms:W3CDTF">2026-03-03T10:45:59Z</dcterms:created>
  <dcterms:modified xsi:type="dcterms:W3CDTF">2026-03-03T10:45:59Z</dcterms:modified>
</cp:coreProperties>
</file>